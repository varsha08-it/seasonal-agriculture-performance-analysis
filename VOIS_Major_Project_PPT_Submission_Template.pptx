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8" d="100"/>
          <a:sy n="68" d="100"/>
        </p:scale>
        <p:origin x="536" y="4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github.com/Varsha08-IT/Seasonal-Agriculture-Performance-Analysi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8" y="3583914"/>
            <a:ext cx="7151859" cy="861497"/>
          </a:xfrm>
        </p:spPr>
        <p:txBody>
          <a:bodyPr vert="horz" lIns="91440" tIns="45720" rIns="91440" bIns="45720" rtlCol="0" anchor="t">
            <a:normAutofit/>
          </a:bodyPr>
          <a:lstStyle/>
          <a:p>
            <a:pPr algn="ctr"/>
            <a:r>
              <a:rPr lang="en-US" b="0" dirty="0" smtClean="0">
                <a:solidFill>
                  <a:schemeClr val="tx1"/>
                </a:solidFill>
              </a:rPr>
              <a:t>Student Name: VARSHA SINGH </a:t>
            </a:r>
            <a:endParaRPr lang="en-IN" b="0" dirty="0">
              <a:solidFill>
                <a:schemeClr val="tx1"/>
              </a:solidFill>
            </a:endParaRPr>
          </a:p>
          <a:p>
            <a:pPr algn="ctr"/>
            <a:r>
              <a:rPr lang="en-US" b="0" dirty="0">
                <a:solidFill>
                  <a:schemeClr val="tx1"/>
                </a:solidFill>
              </a:rPr>
              <a:t>College </a:t>
            </a:r>
            <a:r>
              <a:rPr lang="en-US" b="0" dirty="0" smtClean="0">
                <a:solidFill>
                  <a:schemeClr val="tx1"/>
                </a:solidFill>
              </a:rPr>
              <a:t>Name: DR.HARISINGH GOUR VISHWAVIDYALAYA</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76705" y="2767655"/>
            <a:ext cx="9973925" cy="750730"/>
          </a:xfrm>
        </p:spPr>
        <p:txBody>
          <a:bodyPr>
            <a:normAutofit fontScale="90000"/>
          </a:bodyPr>
          <a:lstStyle/>
          <a:p>
            <a:r>
              <a:rPr lang="en-GB" sz="3200" dirty="0"/>
              <a:t>Project Title </a:t>
            </a:r>
            <a:r>
              <a:rPr lang="en-GB" sz="3200" dirty="0" smtClean="0"/>
              <a:t>- </a:t>
            </a:r>
            <a:r>
              <a:rPr lang="en-IN"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5716771" cy="369332"/>
          </a:xfrm>
          <a:prstGeom prst="rect">
            <a:avLst/>
          </a:prstGeom>
          <a:noFill/>
        </p:spPr>
        <p:txBody>
          <a:bodyPr wrap="square" rtlCol="0">
            <a:spAutoFit/>
          </a:bodyPr>
          <a:lstStyle/>
          <a:p>
            <a:r>
              <a:rPr lang="en-US" b="1" dirty="0"/>
              <a:t>AICTE STU ID : </a:t>
            </a:r>
            <a:r>
              <a:rPr lang="en-US" b="1" dirty="0"/>
              <a:t>STU692b1deea9fb71764433390</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895651" y="2102230"/>
            <a:ext cx="6431280" cy="3607987"/>
          </a:xfrm>
        </p:spPr>
        <p:txBody>
          <a:bodyPr vert="horz" lIns="91440" tIns="45720" rIns="91440" bIns="45720" rtlCol="0" anchor="t">
            <a:normAutofit fontScale="70000" lnSpcReduction="20000"/>
          </a:bodyPr>
          <a:lstStyle/>
          <a:p>
            <a:pPr>
              <a:lnSpc>
                <a:spcPct val="100000"/>
              </a:lnSpc>
            </a:pPr>
            <a:r>
              <a:rPr lang="en-US" sz="2800" dirty="0" smtClean="0"/>
              <a:t>Agricultural </a:t>
            </a:r>
            <a:r>
              <a:rPr lang="en-US" sz="2800" dirty="0"/>
              <a:t>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94411" y="824066"/>
            <a:ext cx="5316195" cy="835051"/>
          </a:xfrm>
        </p:spPr>
        <p:txBody>
          <a:bodyPr>
            <a:normAutofit fontScale="90000"/>
          </a:bodyPr>
          <a:lstStyle/>
          <a:p>
            <a:r>
              <a:rPr lang="en-GB" dirty="0" smtClean="0"/>
              <a:t>Project Description</a:t>
            </a:r>
            <a:br>
              <a:rPr lang="en-GB" dirty="0" smtClean="0"/>
            </a:br>
            <a:r>
              <a:rPr lang="en-US" sz="2200" b="0" dirty="0"/>
              <a:t/>
            </a:r>
            <a:br>
              <a:rPr lang="en-US" sz="2200" b="0" dirty="0"/>
            </a:br>
            <a:r>
              <a:rPr lang="en-GB" dirty="0" smtClean="0"/>
              <a:t/>
            </a:r>
            <a:br>
              <a:rPr lang="en-GB" dirty="0" smtClean="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p:cNvSpPr txBox="1"/>
          <p:nvPr/>
        </p:nvSpPr>
        <p:spPr>
          <a:xfrm>
            <a:off x="594411" y="1659117"/>
            <a:ext cx="7729457" cy="4247317"/>
          </a:xfrm>
          <a:prstGeom prst="rect">
            <a:avLst/>
          </a:prstGeom>
          <a:noFill/>
        </p:spPr>
        <p:txBody>
          <a:bodyPr wrap="square" rtlCol="0">
            <a:spAutoFit/>
          </a:bodyPr>
          <a:lstStyle/>
          <a:p>
            <a:r>
              <a:rPr lang="en-US" dirty="0"/>
              <a:t>The project focuses on analyzing agricultural data across different seasons, crops and geographical regions.</a:t>
            </a:r>
            <a:br>
              <a:rPr lang="en-US" dirty="0"/>
            </a:br>
            <a:r>
              <a:rPr lang="en-US" dirty="0"/>
              <a:t/>
            </a:r>
            <a:br>
              <a:rPr lang="en-US" dirty="0"/>
            </a:br>
            <a:r>
              <a:rPr lang="en-US" dirty="0"/>
              <a:t>The dataset contains information </a:t>
            </a:r>
            <a:r>
              <a:rPr lang="en-US" dirty="0" smtClean="0"/>
              <a:t>about:</a:t>
            </a:r>
          </a:p>
          <a:p>
            <a:endParaRPr lang="en-US" dirty="0" smtClean="0"/>
          </a:p>
          <a:p>
            <a:pPr marL="285750" indent="-285750">
              <a:buFont typeface="Arial" panose="020B0604020202020204" pitchFamily="34" charset="0"/>
              <a:buChar char="•"/>
            </a:pPr>
            <a:r>
              <a:rPr lang="en-US" dirty="0" smtClean="0"/>
              <a:t>Environmental conditions </a:t>
            </a:r>
            <a:endParaRPr lang="en-US" dirty="0"/>
          </a:p>
          <a:p>
            <a:pPr marL="285750" indent="-285750">
              <a:buFont typeface="Arial" panose="020B0604020202020204" pitchFamily="34" charset="0"/>
              <a:buChar char="•"/>
            </a:pPr>
            <a:r>
              <a:rPr lang="en-US" dirty="0" smtClean="0"/>
              <a:t>Farming practices</a:t>
            </a:r>
          </a:p>
          <a:p>
            <a:pPr marL="285750" indent="-285750">
              <a:buFont typeface="Arial" panose="020B0604020202020204" pitchFamily="34" charset="0"/>
              <a:buChar char="•"/>
            </a:pPr>
            <a:r>
              <a:rPr lang="en-US" dirty="0" smtClean="0"/>
              <a:t> Crop yield and production </a:t>
            </a:r>
          </a:p>
          <a:p>
            <a:pPr marL="285750" indent="-285750">
              <a:buFont typeface="Arial" panose="020B0604020202020204" pitchFamily="34" charset="0"/>
              <a:buChar char="•"/>
            </a:pPr>
            <a:r>
              <a:rPr lang="en-US" dirty="0" smtClean="0"/>
              <a:t>Resource usage </a:t>
            </a:r>
          </a:p>
          <a:p>
            <a:pPr marL="285750" indent="-285750">
              <a:buFont typeface="Arial" panose="020B0604020202020204" pitchFamily="34" charset="0"/>
              <a:buChar char="•"/>
            </a:pPr>
            <a:r>
              <a:rPr lang="en-US" dirty="0" smtClean="0"/>
              <a:t>Irrigation methods </a:t>
            </a:r>
          </a:p>
          <a:p>
            <a:pPr marL="285750" indent="-285750">
              <a:buFont typeface="Arial" panose="020B0604020202020204" pitchFamily="34" charset="0"/>
              <a:buChar char="•"/>
            </a:pPr>
            <a:r>
              <a:rPr lang="en-US" dirty="0" smtClean="0"/>
              <a:t>Costs, revenue and profit </a:t>
            </a:r>
            <a:br>
              <a:rPr lang="en-US" dirty="0" smtClean="0"/>
            </a:br>
            <a:endParaRPr lang="en-US" dirty="0" smtClean="0"/>
          </a:p>
          <a:p>
            <a:r>
              <a:rPr lang="en-US" dirty="0" smtClean="0"/>
              <a:t>The data was cleaned and analyzed using statistical methods and visualizations to identify seasonal patterns, relationships and differences in agricultural performance.</a:t>
            </a: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62500" lnSpcReduction="20000"/>
          </a:bodyPr>
          <a:lstStyle/>
          <a:p>
            <a:r>
              <a:rPr lang="en-US" sz="3600" dirty="0"/>
              <a:t>Farmers and agricultural practitioners </a:t>
            </a:r>
          </a:p>
          <a:p>
            <a:r>
              <a:rPr lang="en-US" sz="3600" dirty="0"/>
              <a:t>Agricultural planners and policymakers </a:t>
            </a:r>
          </a:p>
          <a:p>
            <a:r>
              <a:rPr lang="en-US" sz="3600" dirty="0"/>
              <a:t>Agricultural researchers </a:t>
            </a:r>
          </a:p>
          <a:p>
            <a:r>
              <a:rPr lang="en-US" sz="3600" dirty="0"/>
              <a:t>Agribusiness and supply-chain professionals </a:t>
            </a:r>
          </a:p>
          <a:p>
            <a:r>
              <a:rPr lang="en-US" sz="3600" dirty="0"/>
              <a:t>Data analysts </a:t>
            </a:r>
          </a:p>
          <a:p>
            <a:r>
              <a:rPr lang="en-US" sz="3600" dirty="0"/>
              <a:t>Organizations involved in agricultural resource planning </a:t>
            </a:r>
          </a:p>
          <a:p>
            <a:r>
              <a:rPr lang="en-US" sz="3600" b="1" dirty="0"/>
              <a:t>Purpose:</a:t>
            </a:r>
            <a:r>
              <a:rPr lang="en-US" sz="3600" dirty="0"/>
              <a:t/>
            </a:r>
            <a:br>
              <a:rPr lang="en-US" sz="3600" dirty="0"/>
            </a:br>
            <a:r>
              <a:rPr lang="en-US" sz="3600" dirty="0"/>
              <a:t>The insights can support better seasonal planning, resource allocation and agricultural decision-making.</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05018" y="1315059"/>
            <a:ext cx="9027702" cy="5243448"/>
          </a:xfrm>
        </p:spPr>
        <p:txBody>
          <a:bodyPr/>
          <a:lstStyle/>
          <a:p>
            <a:r>
              <a:rPr lang="en-IN" b="1" dirty="0"/>
              <a:t>Python</a:t>
            </a:r>
            <a:r>
              <a:rPr lang="en-IN" dirty="0"/>
              <a:t> – Data analysis and visualization </a:t>
            </a:r>
          </a:p>
          <a:p>
            <a:r>
              <a:rPr lang="en-IN" b="1" dirty="0"/>
              <a:t>Pandas</a:t>
            </a:r>
            <a:r>
              <a:rPr lang="en-IN" dirty="0"/>
              <a:t> – Data cleaning and manipulation </a:t>
            </a:r>
          </a:p>
          <a:p>
            <a:r>
              <a:rPr lang="en-IN" b="1" dirty="0" err="1"/>
              <a:t>NumPy</a:t>
            </a:r>
            <a:r>
              <a:rPr lang="en-IN" dirty="0"/>
              <a:t> – Numerical analysis </a:t>
            </a:r>
          </a:p>
          <a:p>
            <a:r>
              <a:rPr lang="en-IN" b="1" dirty="0" err="1"/>
              <a:t>Matplotlib</a:t>
            </a:r>
            <a:r>
              <a:rPr lang="en-IN" dirty="0"/>
              <a:t> – Data visualization </a:t>
            </a:r>
          </a:p>
          <a:p>
            <a:r>
              <a:rPr lang="en-IN" b="1" dirty="0" err="1"/>
              <a:t>Seaborn</a:t>
            </a:r>
            <a:r>
              <a:rPr lang="en-IN" dirty="0"/>
              <a:t> – Statistical visualizations </a:t>
            </a:r>
          </a:p>
          <a:p>
            <a:r>
              <a:rPr lang="en-IN" b="1" dirty="0" err="1"/>
              <a:t>Jupyter</a:t>
            </a:r>
            <a:r>
              <a:rPr lang="en-IN" b="1" dirty="0"/>
              <a:t> Notebook / Google </a:t>
            </a:r>
            <a:r>
              <a:rPr lang="en-IN" b="1" dirty="0" err="1"/>
              <a:t>Colab</a:t>
            </a:r>
            <a:r>
              <a:rPr lang="en-IN" dirty="0"/>
              <a:t> – Analysis environment </a:t>
            </a:r>
          </a:p>
          <a:p>
            <a:r>
              <a:rPr lang="en-IN" b="1" dirty="0"/>
              <a:t>GitHub</a:t>
            </a:r>
            <a:r>
              <a:rPr lang="en-IN" dirty="0"/>
              <a:t> – Project and notebook repository </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675957" y="5373323"/>
            <a:ext cx="9731235" cy="979915"/>
          </a:xfrm>
          <a:prstGeom prst="rect">
            <a:avLst/>
          </a:prstGeom>
        </p:spPr>
        <p:txBody>
          <a:bodyPr vert="horz" lIns="91440" tIns="45720" rIns="91440" bIns="45720" rtlCol="0">
            <a:normAutofit fontScale="925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US" sz="2000" b="1" dirty="0"/>
              <a:t>Finding:</a:t>
            </a:r>
            <a:endParaRPr lang="en-US" sz="2000" dirty="0"/>
          </a:p>
          <a:p>
            <a:pPr algn="l"/>
            <a:r>
              <a:rPr lang="en-US" sz="2000" dirty="0" err="1"/>
              <a:t>Kharif</a:t>
            </a:r>
            <a:r>
              <a:rPr lang="en-US" sz="2000" dirty="0"/>
              <a:t> shows the highest average crop yield, followed by Rabi and Zaid. This indicates variation in overall agricultural performance across seasons.</a:t>
            </a: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3490538" y="370589"/>
            <a:ext cx="7303456" cy="458791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p:cNvSpPr>
            <a:spLocks noGrp="1"/>
          </p:cNvSpPr>
          <p:nvPr>
            <p:ph type="body" sz="quarter" idx="12"/>
          </p:nvPr>
        </p:nvSpPr>
        <p:spPr>
          <a:xfrm>
            <a:off x="675957" y="5182331"/>
            <a:ext cx="11104252" cy="1099451"/>
          </a:xfrm>
        </p:spPr>
        <p:txBody>
          <a:bodyPr>
            <a:normAutofit lnSpcReduction="10000"/>
          </a:bodyPr>
          <a:lstStyle/>
          <a:p>
            <a:pPr marL="0" indent="0">
              <a:buNone/>
            </a:pPr>
            <a:r>
              <a:rPr lang="en-US" b="1" dirty="0"/>
              <a:t>Finding:</a:t>
            </a:r>
            <a:endParaRPr lang="en-US" dirty="0"/>
          </a:p>
          <a:p>
            <a:pPr marL="0" indent="0">
              <a:buNone/>
            </a:pPr>
            <a:r>
              <a:rPr lang="en-US" dirty="0"/>
              <a:t>Crop performance varies across seasons. Sugarcane has substantially higher average yield than the other crops, while most crops show their highest average yield in </a:t>
            </a:r>
            <a:r>
              <a:rPr lang="en-US" dirty="0" err="1"/>
              <a:t>Kharif</a:t>
            </a:r>
            <a:r>
              <a:rPr lang="en-US" dirty="0"/>
              <a:t>.</a:t>
            </a:r>
          </a:p>
          <a:p>
            <a:endParaRPr lang="en-IN" dirty="0"/>
          </a:p>
        </p:txBody>
      </p:sp>
      <p:pic>
        <p:nvPicPr>
          <p:cNvPr id="3" name="Picture 2"/>
          <p:cNvPicPr>
            <a:picLocks noChangeAspect="1"/>
          </p:cNvPicPr>
          <p:nvPr/>
        </p:nvPicPr>
        <p:blipFill>
          <a:blip r:embed="rId3"/>
          <a:stretch>
            <a:fillRect/>
          </a:stretch>
        </p:blipFill>
        <p:spPr>
          <a:xfrm>
            <a:off x="3515759" y="370589"/>
            <a:ext cx="7098951" cy="462160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p:cNvSpPr>
            <a:spLocks noGrp="1"/>
          </p:cNvSpPr>
          <p:nvPr>
            <p:ph type="body" sz="quarter" idx="12"/>
          </p:nvPr>
        </p:nvSpPr>
        <p:spPr>
          <a:xfrm>
            <a:off x="366367" y="5007076"/>
            <a:ext cx="11302214" cy="1561364"/>
          </a:xfrm>
        </p:spPr>
        <p:txBody>
          <a:bodyPr>
            <a:normAutofit fontScale="92500"/>
          </a:bodyPr>
          <a:lstStyle/>
          <a:p>
            <a:pPr marL="0" indent="0">
              <a:buNone/>
            </a:pPr>
            <a:r>
              <a:rPr lang="en-US" b="1" dirty="0"/>
              <a:t>Finding:</a:t>
            </a:r>
            <a:endParaRPr lang="en-US" dirty="0"/>
          </a:p>
          <a:p>
            <a:pPr marL="0" indent="0">
              <a:buNone/>
            </a:pPr>
            <a:r>
              <a:rPr lang="en-US" dirty="0"/>
              <a:t>The correlation </a:t>
            </a:r>
            <a:r>
              <a:rPr lang="en-US" dirty="0" err="1"/>
              <a:t>heatmap</a:t>
            </a:r>
            <a:r>
              <a:rPr lang="en-US" dirty="0"/>
              <a:t> shows the relationships between environmental factors and crop yield. It helps identify which conditions have stronger or weaker associations with agricultural performance.</a:t>
            </a:r>
          </a:p>
          <a:p>
            <a:pPr marL="0" indent="0">
              <a:buNone/>
            </a:pPr>
            <a:r>
              <a:rPr lang="en-US" b="1" dirty="0"/>
              <a:t>Note:</a:t>
            </a:r>
            <a:r>
              <a:rPr lang="en-US" dirty="0"/>
              <a:t> Correlation indicates association and does not establish causation.</a:t>
            </a:r>
          </a:p>
          <a:p>
            <a:endParaRPr lang="en-IN" dirty="0"/>
          </a:p>
        </p:txBody>
      </p:sp>
      <p:pic>
        <p:nvPicPr>
          <p:cNvPr id="3" name="Picture 2"/>
          <p:cNvPicPr>
            <a:picLocks noChangeAspect="1"/>
          </p:cNvPicPr>
          <p:nvPr/>
        </p:nvPicPr>
        <p:blipFill rotWithShape="1">
          <a:blip r:embed="rId3"/>
          <a:srcRect t="1314"/>
          <a:stretch/>
        </p:blipFill>
        <p:spPr>
          <a:xfrm>
            <a:off x="3451152" y="370589"/>
            <a:ext cx="5871957" cy="473544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p:cNvSpPr>
            <a:spLocks noGrp="1"/>
          </p:cNvSpPr>
          <p:nvPr>
            <p:ph type="body" sz="quarter" idx="12"/>
          </p:nvPr>
        </p:nvSpPr>
        <p:spPr>
          <a:xfrm>
            <a:off x="675957" y="4609708"/>
            <a:ext cx="8722567" cy="3578700"/>
          </a:xfrm>
        </p:spPr>
        <p:txBody>
          <a:bodyPr/>
          <a:lstStyle/>
          <a:p>
            <a:pPr marL="0" indent="0">
              <a:buNone/>
            </a:pPr>
            <a:r>
              <a:rPr lang="en-US" b="1" dirty="0"/>
              <a:t>Finding:</a:t>
            </a:r>
            <a:endParaRPr lang="en-US" dirty="0"/>
          </a:p>
          <a:p>
            <a:pPr marL="0" indent="0">
              <a:buNone/>
            </a:pPr>
            <a:r>
              <a:rPr lang="en-US" dirty="0" err="1"/>
              <a:t>Kharif</a:t>
            </a:r>
            <a:r>
              <a:rPr lang="en-US" dirty="0"/>
              <a:t> has the highest average profit, while Zaid records a negative average profit. This shows that economic performance differs considerably across seasons.</a:t>
            </a:r>
          </a:p>
          <a:p>
            <a:endParaRPr lang="en-IN" dirty="0"/>
          </a:p>
        </p:txBody>
      </p:sp>
      <p:pic>
        <p:nvPicPr>
          <p:cNvPr id="3" name="Picture 2"/>
          <p:cNvPicPr>
            <a:picLocks noChangeAspect="1"/>
          </p:cNvPicPr>
          <p:nvPr/>
        </p:nvPicPr>
        <p:blipFill>
          <a:blip r:embed="rId3"/>
          <a:stretch>
            <a:fillRect/>
          </a:stretch>
        </p:blipFill>
        <p:spPr>
          <a:xfrm>
            <a:off x="3554668" y="460827"/>
            <a:ext cx="6645134" cy="393686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rotWithShape="1">
          <a:blip r:embed="rId3"/>
          <a:srcRect t="1656"/>
          <a:stretch/>
        </p:blipFill>
        <p:spPr>
          <a:xfrm>
            <a:off x="3407490" y="558934"/>
            <a:ext cx="5219968" cy="3734617"/>
          </a:xfrm>
          <a:prstGeom prst="rect">
            <a:avLst/>
          </a:prstGeom>
        </p:spPr>
      </p:pic>
      <p:sp>
        <p:nvSpPr>
          <p:cNvPr id="3" name="Text Placeholder 2"/>
          <p:cNvSpPr>
            <a:spLocks noGrp="1"/>
          </p:cNvSpPr>
          <p:nvPr>
            <p:ph type="body" sz="quarter" idx="12"/>
          </p:nvPr>
        </p:nvSpPr>
        <p:spPr>
          <a:xfrm>
            <a:off x="572261" y="4713402"/>
            <a:ext cx="9636967" cy="1488336"/>
          </a:xfrm>
        </p:spPr>
        <p:txBody>
          <a:bodyPr/>
          <a:lstStyle/>
          <a:p>
            <a:pPr marL="0" indent="0">
              <a:buNone/>
            </a:pPr>
            <a:r>
              <a:rPr lang="en-US" b="1" dirty="0"/>
              <a:t>Finding:</a:t>
            </a:r>
            <a:endParaRPr lang="en-US" dirty="0"/>
          </a:p>
          <a:p>
            <a:pPr marL="0" indent="0">
              <a:buNone/>
            </a:pPr>
            <a:r>
              <a:rPr lang="en-US" dirty="0"/>
              <a:t>Seasonal performance differs across states. For example, Punjab performs strongly in Rabi, while Karnataka performs strongly in Zaid, showing that seasonal patterns can vary by region.</a:t>
            </a:r>
          </a:p>
          <a:p>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694640"/>
          </a:xfrm>
        </p:spPr>
        <p:txBody>
          <a:bodyPr>
            <a:normAutofit fontScale="90000"/>
          </a:bodyPr>
          <a:lstStyle/>
          <a:p>
            <a:r>
              <a:rPr lang="en-IN" sz="4000" dirty="0"/>
              <a:t>Future </a:t>
            </a:r>
            <a:r>
              <a:rPr lang="en-IN" sz="4000" dirty="0" smtClean="0"/>
              <a:t>scope </a:t>
            </a:r>
            <a:br>
              <a:rPr lang="en-IN" sz="4000" dirty="0" smtClean="0"/>
            </a:br>
            <a:endParaRPr lang="en-IN" sz="4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5" name="TextBox 14"/>
          <p:cNvSpPr txBox="1"/>
          <p:nvPr/>
        </p:nvSpPr>
        <p:spPr>
          <a:xfrm>
            <a:off x="443059" y="2104457"/>
            <a:ext cx="8814062"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Build an interactive agricultural analytics dashboard</a:t>
            </a:r>
            <a:r>
              <a:rPr lang="en-US" sz="2400" dirty="0" smtClean="0"/>
              <a:t>.</a:t>
            </a:r>
          </a:p>
          <a:p>
            <a:pPr marL="285750" indent="-285750">
              <a:buFont typeface="Arial" panose="020B0604020202020204" pitchFamily="34" charset="0"/>
              <a:buChar char="•"/>
            </a:pPr>
            <a:r>
              <a:rPr lang="en-US" sz="2400" dirty="0"/>
              <a:t>Include more years of agricultural data for trend analysis</a:t>
            </a:r>
            <a:r>
              <a:rPr lang="en-US" sz="2400" dirty="0" smtClean="0"/>
              <a:t>.</a:t>
            </a:r>
          </a:p>
          <a:p>
            <a:pPr marL="285750" indent="-285750">
              <a:buFont typeface="Arial" panose="020B0604020202020204" pitchFamily="34" charset="0"/>
              <a:buChar char="•"/>
            </a:pPr>
            <a:r>
              <a:rPr lang="en-US" sz="2400" dirty="0"/>
              <a:t>Apply machine learning to predict crop yield and profitability</a:t>
            </a:r>
            <a:r>
              <a:rPr lang="en-US" sz="2400" dirty="0" smtClean="0"/>
              <a:t>.</a:t>
            </a:r>
          </a:p>
          <a:p>
            <a:pPr marL="285750" indent="-285750">
              <a:buFont typeface="Arial" panose="020B0604020202020204" pitchFamily="34" charset="0"/>
              <a:buChar char="•"/>
            </a:pPr>
            <a:r>
              <a:rPr lang="en-IN" sz="2400" dirty="0"/>
              <a:t>Develop region-specific seasonal recommendations</a:t>
            </a:r>
            <a:r>
              <a:rPr lang="en-IN" sz="2400" dirty="0" smtClean="0"/>
              <a:t>.</a:t>
            </a:r>
          </a:p>
          <a:p>
            <a:pPr marL="285750" indent="-285750">
              <a:buFont typeface="Arial" panose="020B0604020202020204" pitchFamily="34" charset="0"/>
              <a:buChar char="•"/>
            </a:pPr>
            <a:r>
              <a:rPr lang="en-US" sz="2400" dirty="0"/>
              <a:t>Analyze weather forecasts and real-time environmental data</a:t>
            </a:r>
            <a:r>
              <a:rPr lang="en-US" sz="2400" dirty="0" smtClean="0"/>
              <a:t>.</a:t>
            </a:r>
          </a:p>
          <a:p>
            <a:pPr marL="285750" indent="-285750">
              <a:buFont typeface="Arial" panose="020B0604020202020204" pitchFamily="34" charset="0"/>
              <a:buChar char="•"/>
            </a:pPr>
            <a:r>
              <a:rPr lang="en-US" sz="2400" dirty="0"/>
              <a:t>Improve resource and irrigation planning using predictive analytics.</a:t>
            </a:r>
            <a:endParaRPr lang="en-IN" sz="24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hlinkClick r:id="rId3" action="ppaction://hlinksldjump"/>
            <a:extLst>
              <a:ext uri="{FF2B5EF4-FFF2-40B4-BE49-F238E27FC236}">
                <a16:creationId xmlns:a16="http://schemas.microsoft.com/office/drawing/2014/main" id="{5F0B37E4-66B1-8633-7266-68B321742757}"/>
              </a:ext>
            </a:extLst>
          </p:cNvPr>
          <p:cNvSpPr txBox="1"/>
          <p:nvPr/>
        </p:nvSpPr>
        <p:spPr>
          <a:xfrm>
            <a:off x="861231" y="2866657"/>
            <a:ext cx="7232875" cy="1200329"/>
          </a:xfrm>
          <a:prstGeom prst="rect">
            <a:avLst/>
          </a:prstGeom>
          <a:noFill/>
        </p:spPr>
        <p:txBody>
          <a:bodyPr wrap="square">
            <a:spAutoFit/>
          </a:bodyPr>
          <a:lstStyle/>
          <a:p>
            <a:r>
              <a:rPr lang="en-IN" dirty="0">
                <a:hlinkClick r:id="rId4"/>
              </a:rPr>
              <a:t>Varsha08-IT/Seasonal-Agriculture-Performance-Analysis: Data analytics project </a:t>
            </a:r>
            <a:r>
              <a:rPr lang="en-IN" dirty="0" err="1">
                <a:hlinkClick r:id="rId4"/>
              </a:rPr>
              <a:t>analyzing</a:t>
            </a:r>
            <a:r>
              <a:rPr lang="en-IN" dirty="0">
                <a:hlinkClick r:id="rId4"/>
              </a:rPr>
              <a:t> seasonal variations in agricultural performance, environmental conditions, resource usage, crop yield, and economic outcomes.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rotWithShape="1">
          <a:blip r:embed="rId3"/>
          <a:srcRect t="1291" r="1134" b="1830"/>
          <a:stretch/>
        </p:blipFill>
        <p:spPr>
          <a:xfrm>
            <a:off x="1319545" y="1553083"/>
            <a:ext cx="6740373" cy="471383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www.w3.org/XML/1998/namespace"/>
    <ds:schemaRef ds:uri="http://schemas.microsoft.com/office/2006/documentManagement/types"/>
    <ds:schemaRef ds:uri="16c05727-aa75-4e4a-9b5f-8a80a1165891"/>
    <ds:schemaRef ds:uri="http://schemas.openxmlformats.org/package/2006/metadata/core-properties"/>
    <ds:schemaRef ds:uri="http://purl.org/dc/terms/"/>
    <ds:schemaRef ds:uri="http://schemas.microsoft.com/office/2006/metadata/properties"/>
    <ds:schemaRef ds:uri="http://purl.org/dc/dcmitype/"/>
    <ds:schemaRef ds:uri="http://schemas.microsoft.com/office/infopath/2007/PartnerControls"/>
    <ds:schemaRef ds:uri="http://purl.org/dc/elements/1.1/"/>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1409</TotalTime>
  <Words>527</Words>
  <Application>Microsoft Office PowerPoint</Application>
  <PresentationFormat>Widescreen</PresentationFormat>
  <Paragraphs>62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Varsha Singh</cp:lastModifiedBy>
  <cp:revision>105</cp:revision>
  <dcterms:created xsi:type="dcterms:W3CDTF">2021-07-11T13:13:15Z</dcterms:created>
  <dcterms:modified xsi:type="dcterms:W3CDTF">2026-09-14T19:25:05Z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